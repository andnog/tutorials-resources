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685800"/>
            <a:ext cx="1463040" cy="16276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108960" y="2606040"/>
            <a:ext cx="5943600" cy="0"/>
          </a:xfrm>
          <a:prstGeom prst="line">
            <a:avLst/>
          </a:prstGeom>
          <a:noFill/>
          <a:ln w="15875">
            <a:solidFill>
              <a:srgbClr val="BA935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51560" y="2788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A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CURSO · UNIVERSIDAD PANAMERICANA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515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Intent to Implementation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51560" y="3886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A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Mastering Spec-Driven Development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5156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sesiones × 3 horas  ·  30 horas totales  ·  Modalidad presencial, virtual o híbrida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CURSO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Especificaciones como fuente de verdad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teórico-práctico enfocado en diseñar, construir, verificar y evolucionar sistemas de software utilizando las especificaciones como principal fuente de verdad del proyecto.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 el Spec-Driven Development (SDD) como una disciplina de ingeniería completa — no únicamente una técnica para escribir mejores prompts.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20840" y="1737360"/>
            <a:ext cx="4892040" cy="2148840"/>
          </a:xfrm>
          <a:prstGeom prst="roundRect">
            <a:avLst>
              <a:gd name="adj" fmla="val 3404"/>
            </a:avLst>
          </a:prstGeom>
          <a:solidFill>
            <a:srgbClr val="F1E9DC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0" y="19202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Specification-First Engineering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40880" y="237744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formales, API-first, contract testing, BDD, esquemas de datos, decisiones arquitectónicas y trazabilidad.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720840" y="4023360"/>
            <a:ext cx="4892040" cy="2148840"/>
          </a:xfrm>
          <a:prstGeom prst="roundRect">
            <a:avLst>
              <a:gd name="adj" fmla="val 3404"/>
            </a:avLst>
          </a:prstGeom>
          <a:solidFill>
            <a:srgbClr val="2B2622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42062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A93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 Spec-Driven Development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466344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controlado de agentes de programación para generar planes, tareas, código y pruebas a partir de especificaciones estructuradas.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podrá hacer el participante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y mantener un flujo completo de desarrollo dirigido por especificaciones, en el que cada decisión de implementación pueda relacionarse con un requisito, una restricción, un contrato o un criterio de aceptación verificable.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523488" cy="963168"/>
          </a:xfrm>
          <a:prstGeom prst="roundRect">
            <a:avLst>
              <a:gd name="adj" fmla="val 5696"/>
            </a:avLst>
          </a:prstGeom>
          <a:solidFill>
            <a:srgbClr val="FAF7F1"/>
          </a:solidFill>
          <a:ln w="12700">
            <a:solidFill>
              <a:srgbClr val="F1E9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3063240"/>
            <a:ext cx="329184" cy="329184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3502152"/>
            <a:ext cx="3121152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SDD de vibe coding, TDD, BDD y API-first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36720" y="2880360"/>
            <a:ext cx="3523488" cy="963168"/>
          </a:xfrm>
          <a:prstGeom prst="roundRect">
            <a:avLst>
              <a:gd name="adj" fmla="val 5696"/>
            </a:avLst>
          </a:prstGeom>
          <a:solidFill>
            <a:srgbClr val="FAF7F1"/>
          </a:solidFill>
          <a:ln w="12700">
            <a:solidFill>
              <a:srgbClr val="F1E9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7888" y="3063240"/>
            <a:ext cx="329184" cy="329184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11" name="Text 9"/>
          <p:cNvSpPr/>
          <p:nvPr/>
        </p:nvSpPr>
        <p:spPr>
          <a:xfrm>
            <a:off x="4437888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7888" y="3502152"/>
            <a:ext cx="3121152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necesidades ambiguas en especificaciones verificables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24800" y="2880360"/>
            <a:ext cx="3523488" cy="963168"/>
          </a:xfrm>
          <a:prstGeom prst="roundRect">
            <a:avLst>
              <a:gd name="adj" fmla="val 5696"/>
            </a:avLst>
          </a:prstGeom>
          <a:solidFill>
            <a:srgbClr val="FAF7F1"/>
          </a:solidFill>
          <a:ln w="12700">
            <a:solidFill>
              <a:srgbClr val="F1E9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5968" y="3063240"/>
            <a:ext cx="329184" cy="329184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15" name="Text 13"/>
          <p:cNvSpPr/>
          <p:nvPr/>
        </p:nvSpPr>
        <p:spPr>
          <a:xfrm>
            <a:off x="8125968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5968" y="3502152"/>
            <a:ext cx="3121152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requisitos con criterios medibles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08120"/>
            <a:ext cx="3523488" cy="963168"/>
          </a:xfrm>
          <a:prstGeom prst="roundRect">
            <a:avLst>
              <a:gd name="adj" fmla="val 5696"/>
            </a:avLst>
          </a:prstGeom>
          <a:solidFill>
            <a:srgbClr val="FAF7F1"/>
          </a:solidFill>
          <a:ln w="12700">
            <a:solidFill>
              <a:srgbClr val="F1E9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191000"/>
            <a:ext cx="329184" cy="329184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91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4629912"/>
            <a:ext cx="3121152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decisiones arquitectónicas (ADR)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36720" y="4008120"/>
            <a:ext cx="3523488" cy="963168"/>
          </a:xfrm>
          <a:prstGeom prst="roundRect">
            <a:avLst>
              <a:gd name="adj" fmla="val 5696"/>
            </a:avLst>
          </a:prstGeom>
          <a:solidFill>
            <a:srgbClr val="FAF7F1"/>
          </a:solidFill>
          <a:ln w="12700">
            <a:solidFill>
              <a:srgbClr val="F1E9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7888" y="4191000"/>
            <a:ext cx="329184" cy="329184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23" name="Text 21"/>
          <p:cNvSpPr/>
          <p:nvPr/>
        </p:nvSpPr>
        <p:spPr>
          <a:xfrm>
            <a:off x="4437888" y="4191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37888" y="4629912"/>
            <a:ext cx="3121152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contratos con OpenAPI, JSON Schema y AsyncAPI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24800" y="4008120"/>
            <a:ext cx="3523488" cy="963168"/>
          </a:xfrm>
          <a:prstGeom prst="roundRect">
            <a:avLst>
              <a:gd name="adj" fmla="val 5696"/>
            </a:avLst>
          </a:prstGeom>
          <a:solidFill>
            <a:srgbClr val="FAF7F1"/>
          </a:solidFill>
          <a:ln w="12700">
            <a:solidFill>
              <a:srgbClr val="F1E9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25968" y="4191000"/>
            <a:ext cx="329184" cy="329184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27" name="Text 25"/>
          <p:cNvSpPr/>
          <p:nvPr/>
        </p:nvSpPr>
        <p:spPr>
          <a:xfrm>
            <a:off x="8125968" y="4191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5968" y="4629912"/>
            <a:ext cx="3121152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requisitos en pruebas ejecutables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135880"/>
            <a:ext cx="3523488" cy="963168"/>
          </a:xfrm>
          <a:prstGeom prst="roundRect">
            <a:avLst>
              <a:gd name="adj" fmla="val 5696"/>
            </a:avLst>
          </a:prstGeom>
          <a:solidFill>
            <a:srgbClr val="FAF7F1"/>
          </a:solidFill>
          <a:ln w="12700">
            <a:solidFill>
              <a:srgbClr val="F1E9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5318760"/>
            <a:ext cx="329184" cy="329184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31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9808" y="5757672"/>
            <a:ext cx="3121152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Supervisar agentes de programación sin delegar decisiones críticas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36720" y="5135880"/>
            <a:ext cx="3523488" cy="963168"/>
          </a:xfrm>
          <a:prstGeom prst="roundRect">
            <a:avLst>
              <a:gd name="adj" fmla="val 5696"/>
            </a:avLst>
          </a:prstGeom>
          <a:solidFill>
            <a:srgbClr val="FAF7F1"/>
          </a:solidFill>
          <a:ln w="12700">
            <a:solidFill>
              <a:srgbClr val="F1E9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7888" y="5318760"/>
            <a:ext cx="329184" cy="329184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35" name="Text 33"/>
          <p:cNvSpPr/>
          <p:nvPr/>
        </p:nvSpPr>
        <p:spPr>
          <a:xfrm>
            <a:off x="4437888" y="531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437888" y="5757672"/>
            <a:ext cx="3121152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desviaciones entre requisitos, código y pruebas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24800" y="5135880"/>
            <a:ext cx="3523488" cy="963168"/>
          </a:xfrm>
          <a:prstGeom prst="roundRect">
            <a:avLst>
              <a:gd name="adj" fmla="val 5696"/>
            </a:avLst>
          </a:prstGeom>
          <a:solidFill>
            <a:srgbClr val="FAF7F1"/>
          </a:solidFill>
          <a:ln w="12700">
            <a:solidFill>
              <a:srgbClr val="F1E9D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25968" y="5318760"/>
            <a:ext cx="329184" cy="329184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39" name="Text 37"/>
          <p:cNvSpPr/>
          <p:nvPr/>
        </p:nvSpPr>
        <p:spPr>
          <a:xfrm>
            <a:off x="8125968" y="531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125968" y="5757672"/>
            <a:ext cx="3121152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validaciones en pipelines de CI/CD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A9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Request Management Platform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empresarial para registrar, asignar, atender y cerrar solicitudes de servicio — construido progresivamente a lo largo de las 10 sesiones.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13432"/>
            <a:ext cx="109728" cy="109728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762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y clasificación de solicitudes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09728" cy="109728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responsables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109728" cy="109728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Transiciones controladas de estado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14216"/>
            <a:ext cx="109728" cy="109728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8770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SLA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0" y="2313432"/>
            <a:ext cx="109728" cy="109728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14" name="Text 12"/>
          <p:cNvSpPr/>
          <p:nvPr/>
        </p:nvSpPr>
        <p:spPr>
          <a:xfrm>
            <a:off x="4370832" y="21762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y evidencias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2880360"/>
            <a:ext cx="109728" cy="109728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16" name="Text 14"/>
          <p:cNvSpPr/>
          <p:nvPr/>
        </p:nvSpPr>
        <p:spPr>
          <a:xfrm>
            <a:off x="4370832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0" y="3447288"/>
            <a:ext cx="109728" cy="109728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18" name="Text 16"/>
          <p:cNvSpPr/>
          <p:nvPr/>
        </p:nvSpPr>
        <p:spPr>
          <a:xfrm>
            <a:off x="4370832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auditoría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0" y="4014216"/>
            <a:ext cx="109728" cy="109728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20" name="Text 18"/>
          <p:cNvSpPr/>
          <p:nvPr/>
        </p:nvSpPr>
        <p:spPr>
          <a:xfrm>
            <a:off x="4370832" y="38770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y publicación de eventos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80960" y="2313432"/>
            <a:ext cx="109728" cy="109728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22" name="Text 20"/>
          <p:cNvSpPr/>
          <p:nvPr/>
        </p:nvSpPr>
        <p:spPr>
          <a:xfrm>
            <a:off x="7936992" y="21762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por roles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80960" y="2880360"/>
            <a:ext cx="109728" cy="109728"/>
          </a:xfrm>
          <a:prstGeom prst="ellipse">
            <a:avLst/>
          </a:prstGeom>
          <a:solidFill>
            <a:srgbClr val="BA9357"/>
          </a:solidFill>
          <a:ln/>
        </p:spPr>
      </p:sp>
      <p:sp>
        <p:nvSpPr>
          <p:cNvPr id="24" name="Text 22"/>
          <p:cNvSpPr/>
          <p:nvPr/>
        </p:nvSpPr>
        <p:spPr>
          <a:xfrm>
            <a:off x="7936992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seguimiento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8A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 referencia:  Python · FastAPI · Pydantic · PostgreSQL/SQLite · Pytest · Hypothesis · OpenAPI · JSON Schema · AsyncAPI · Pact · Docker · GitHub Actions · Spec Kit / Kiro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CURSO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Sesiones 1 – 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08760" y="3291840"/>
            <a:ext cx="9144000" cy="0"/>
          </a:xfrm>
          <a:prstGeom prst="line">
            <a:avLst/>
          </a:prstGeom>
          <a:noFill/>
          <a:ln w="38100">
            <a:solidFill>
              <a:srgbClr val="F1E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2728" y="3035808"/>
            <a:ext cx="512064" cy="512064"/>
          </a:xfrm>
          <a:prstGeom prst="ellipse">
            <a:avLst/>
          </a:prstGeom>
          <a:solidFill>
            <a:srgbClr val="BA93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272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Foundations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del desarrollo ambiguo, qué es una especificación, ciclo fundamental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38728" y="3035808"/>
            <a:ext cx="512064" cy="512064"/>
          </a:xfrm>
          <a:prstGeom prst="ellipse">
            <a:avLst/>
          </a:prstGeom>
          <a:solidFill>
            <a:srgbClr val="BA93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43200" y="37490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stories, formato EARS, criterios de aceptación, casos límite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24728" y="3035808"/>
            <a:ext cx="512064" cy="512064"/>
          </a:xfrm>
          <a:prstGeom prst="ellipse">
            <a:avLst/>
          </a:prstGeom>
          <a:solidFill>
            <a:srgbClr val="BA93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2472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&amp; Quality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0" y="37490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obligatorios, requisitos no funcionales, Definition of Ready/Done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10728" y="3035808"/>
            <a:ext cx="512064" cy="512064"/>
          </a:xfrm>
          <a:prstGeom prst="ellipse">
            <a:avLst/>
          </a:prstGeom>
          <a:solidFill>
            <a:srgbClr val="BA93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072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&amp; ADR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0" y="37490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C4, diagramas de secuencia, máquinas de estado, decisiones arquitectónicas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396728" y="3035808"/>
            <a:ext cx="512064" cy="512064"/>
          </a:xfrm>
          <a:prstGeom prst="ellipse">
            <a:avLst/>
          </a:prstGeom>
          <a:solidFill>
            <a:srgbClr val="BA93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9672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Contract-First APIs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01200" y="37490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OpenAPI, JSON Schema, AsyncAPI, compatibilidad y versionado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CURSO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Sesiones 6 – 10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08760" y="3291840"/>
            <a:ext cx="9144000" cy="0"/>
          </a:xfrm>
          <a:prstGeom prst="line">
            <a:avLst/>
          </a:prstGeom>
          <a:noFill/>
          <a:ln w="38100">
            <a:solidFill>
              <a:srgbClr val="F1E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2728" y="3035808"/>
            <a:ext cx="512064" cy="512064"/>
          </a:xfrm>
          <a:prstGeom prst="ellipse">
            <a:avLst/>
          </a:prstGeom>
          <a:solidFill>
            <a:srgbClr val="BA93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272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Specs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BDD/Gherkin, property-based testing, contract testing, trazabilidad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38728" y="3035808"/>
            <a:ext cx="512064" cy="512064"/>
          </a:xfrm>
          <a:prstGeom prst="ellipse">
            <a:avLst/>
          </a:prstGeom>
          <a:solidFill>
            <a:srgbClr val="BA93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SDD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43200" y="37490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programación, GitHub Spec Kit, Kiro, context engineering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24728" y="3035808"/>
            <a:ext cx="512064" cy="512064"/>
          </a:xfrm>
          <a:prstGeom prst="ellipse">
            <a:avLst/>
          </a:prstGeom>
          <a:solidFill>
            <a:srgbClr val="BA93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2472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&amp; Change Mgmt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0" y="37490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 vertical, specification drift, gestión de cambios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10728" y="3035808"/>
            <a:ext cx="512064" cy="512064"/>
          </a:xfrm>
          <a:prstGeom prst="ellipse">
            <a:avLst/>
          </a:prstGeom>
          <a:solidFill>
            <a:srgbClr val="BA93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072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CI/CD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0" y="37490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code, quality gates, seguridad, observabilidad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396728" y="3035808"/>
            <a:ext cx="512064" cy="512064"/>
          </a:xfrm>
          <a:prstGeom prst="ellipse">
            <a:avLst/>
          </a:prstGeom>
          <a:solidFill>
            <a:srgbClr val="BA93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9672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&amp; Adoption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01200" y="37490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final, antipatrones, modelo de madurez, plan de adopción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pondera el curso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6240" y="1865376"/>
            <a:ext cx="6400800" cy="292608"/>
          </a:xfrm>
          <a:prstGeom prst="roundRect">
            <a:avLst>
              <a:gd name="adj" fmla="val 12500"/>
            </a:avLst>
          </a:prstGeom>
          <a:solidFill>
            <a:srgbClr val="F1E9DC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0" y="1865376"/>
            <a:ext cx="6400800" cy="292608"/>
          </a:xfrm>
          <a:prstGeom prst="roundRect">
            <a:avLst>
              <a:gd name="adj" fmla="val 12500"/>
            </a:avLst>
          </a:prstGeom>
          <a:solidFill>
            <a:srgbClr val="8A6A3D"/>
          </a:solidFill>
          <a:ln/>
        </p:spPr>
      </p:sp>
      <p:sp>
        <p:nvSpPr>
          <p:cNvPr id="7" name="Text 5"/>
          <p:cNvSpPr/>
          <p:nvPr/>
        </p:nvSpPr>
        <p:spPr>
          <a:xfrm>
            <a:off x="10744200" y="17830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5000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requisitos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2432304"/>
            <a:ext cx="6400800" cy="292608"/>
          </a:xfrm>
          <a:prstGeom prst="roundRect">
            <a:avLst>
              <a:gd name="adj" fmla="val 12500"/>
            </a:avLst>
          </a:prstGeom>
          <a:solidFill>
            <a:srgbClr val="F1E9DC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0" y="2432304"/>
            <a:ext cx="4800600" cy="292608"/>
          </a:xfrm>
          <a:prstGeom prst="roundRect">
            <a:avLst>
              <a:gd name="adj" fmla="val 12500"/>
            </a:avLst>
          </a:prstGeom>
          <a:solidFill>
            <a:srgbClr val="BA9357"/>
          </a:solidFill>
          <a:ln/>
        </p:spPr>
      </p:sp>
      <p:sp>
        <p:nvSpPr>
          <p:cNvPr id="11" name="Text 9"/>
          <p:cNvSpPr/>
          <p:nvPr/>
        </p:nvSpPr>
        <p:spPr>
          <a:xfrm>
            <a:off x="10744200" y="235000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91693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ADR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06240" y="2999232"/>
            <a:ext cx="6400800" cy="292608"/>
          </a:xfrm>
          <a:prstGeom prst="roundRect">
            <a:avLst>
              <a:gd name="adj" fmla="val 12500"/>
            </a:avLst>
          </a:prstGeom>
          <a:solidFill>
            <a:srgbClr val="F1E9DC"/>
          </a:solidFill>
          <a:ln/>
        </p:spPr>
      </p:sp>
      <p:sp>
        <p:nvSpPr>
          <p:cNvPr id="14" name="Shape 12"/>
          <p:cNvSpPr/>
          <p:nvPr/>
        </p:nvSpPr>
        <p:spPr>
          <a:xfrm>
            <a:off x="4206240" y="2999232"/>
            <a:ext cx="4800600" cy="292608"/>
          </a:xfrm>
          <a:prstGeom prst="roundRect">
            <a:avLst>
              <a:gd name="adj" fmla="val 12500"/>
            </a:avLst>
          </a:prstGeom>
          <a:solidFill>
            <a:srgbClr val="BA9357"/>
          </a:solidFill>
          <a:ln/>
        </p:spPr>
      </p:sp>
      <p:sp>
        <p:nvSpPr>
          <p:cNvPr id="15" name="Text 13"/>
          <p:cNvSpPr/>
          <p:nvPr/>
        </p:nvSpPr>
        <p:spPr>
          <a:xfrm>
            <a:off x="10744200" y="291693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48386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OpenAPI / AsyncAPI / JSON Schema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06240" y="3566160"/>
            <a:ext cx="6400800" cy="292608"/>
          </a:xfrm>
          <a:prstGeom prst="roundRect">
            <a:avLst>
              <a:gd name="adj" fmla="val 12500"/>
            </a:avLst>
          </a:prstGeom>
          <a:solidFill>
            <a:srgbClr val="F1E9DC"/>
          </a:solidFill>
          <a:ln/>
        </p:spPr>
      </p:sp>
      <p:sp>
        <p:nvSpPr>
          <p:cNvPr id="18" name="Shape 16"/>
          <p:cNvSpPr/>
          <p:nvPr/>
        </p:nvSpPr>
        <p:spPr>
          <a:xfrm>
            <a:off x="4206240" y="3566160"/>
            <a:ext cx="4800600" cy="292608"/>
          </a:xfrm>
          <a:prstGeom prst="roundRect">
            <a:avLst>
              <a:gd name="adj" fmla="val 12500"/>
            </a:avLst>
          </a:prstGeom>
          <a:solidFill>
            <a:srgbClr val="BA9357"/>
          </a:solidFill>
          <a:ln/>
        </p:spPr>
      </p:sp>
      <p:sp>
        <p:nvSpPr>
          <p:cNvPr id="19" name="Text 17"/>
          <p:cNvSpPr/>
          <p:nvPr/>
        </p:nvSpPr>
        <p:spPr>
          <a:xfrm>
            <a:off x="10744200" y="348386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5079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Especificaciones ejecutables y pruebas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06240" y="4133088"/>
            <a:ext cx="6400800" cy="292608"/>
          </a:xfrm>
          <a:prstGeom prst="roundRect">
            <a:avLst>
              <a:gd name="adj" fmla="val 12500"/>
            </a:avLst>
          </a:prstGeom>
          <a:solidFill>
            <a:srgbClr val="F1E9DC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4133088"/>
            <a:ext cx="4800600" cy="292608"/>
          </a:xfrm>
          <a:prstGeom prst="roundRect">
            <a:avLst>
              <a:gd name="adj" fmla="val 12500"/>
            </a:avLst>
          </a:prstGeom>
          <a:solidFill>
            <a:srgbClr val="BA9357"/>
          </a:solidFill>
          <a:ln/>
        </p:spPr>
      </p:sp>
      <p:sp>
        <p:nvSpPr>
          <p:cNvPr id="23" name="Text 21"/>
          <p:cNvSpPr/>
          <p:nvPr/>
        </p:nvSpPr>
        <p:spPr>
          <a:xfrm>
            <a:off x="10744200" y="405079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Constitución y requisitos no funcionales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06240" y="4700016"/>
            <a:ext cx="6400800" cy="292608"/>
          </a:xfrm>
          <a:prstGeom prst="roundRect">
            <a:avLst>
              <a:gd name="adj" fmla="val 12500"/>
            </a:avLst>
          </a:prstGeom>
          <a:solidFill>
            <a:srgbClr val="F1E9DC"/>
          </a:solidFill>
          <a:ln/>
        </p:spPr>
      </p:sp>
      <p:sp>
        <p:nvSpPr>
          <p:cNvPr id="26" name="Shape 24"/>
          <p:cNvSpPr/>
          <p:nvPr/>
        </p:nvSpPr>
        <p:spPr>
          <a:xfrm>
            <a:off x="4206240" y="4700016"/>
            <a:ext cx="3200400" cy="292608"/>
          </a:xfrm>
          <a:prstGeom prst="roundRect">
            <a:avLst>
              <a:gd name="adj" fmla="val 12500"/>
            </a:avLst>
          </a:prstGeom>
          <a:solidFill>
            <a:srgbClr val="BA9357"/>
          </a:solidFill>
          <a:ln/>
        </p:spPr>
      </p:sp>
      <p:sp>
        <p:nvSpPr>
          <p:cNvPr id="27" name="Text 25"/>
          <p:cNvSpPr/>
          <p:nvPr/>
        </p:nvSpPr>
        <p:spPr>
          <a:xfrm>
            <a:off x="10744200" y="461772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18464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gobierno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06240" y="5266944"/>
            <a:ext cx="6400800" cy="292608"/>
          </a:xfrm>
          <a:prstGeom prst="roundRect">
            <a:avLst>
              <a:gd name="adj" fmla="val 12500"/>
            </a:avLst>
          </a:prstGeom>
          <a:solidFill>
            <a:srgbClr val="F1E9DC"/>
          </a:solidFill>
          <a:ln/>
        </p:spPr>
      </p:sp>
      <p:sp>
        <p:nvSpPr>
          <p:cNvPr id="30" name="Shape 28"/>
          <p:cNvSpPr/>
          <p:nvPr/>
        </p:nvSpPr>
        <p:spPr>
          <a:xfrm>
            <a:off x="4206240" y="5266944"/>
            <a:ext cx="3200400" cy="292608"/>
          </a:xfrm>
          <a:prstGeom prst="roundRect">
            <a:avLst>
              <a:gd name="adj" fmla="val 12500"/>
            </a:avLst>
          </a:prstGeom>
          <a:solidFill>
            <a:srgbClr val="BA9357"/>
          </a:solidFill>
          <a:ln/>
        </p:spPr>
      </p:sp>
      <p:sp>
        <p:nvSpPr>
          <p:cNvPr id="31" name="Text 29"/>
          <p:cNvSpPr/>
          <p:nvPr/>
        </p:nvSpPr>
        <p:spPr>
          <a:xfrm>
            <a:off x="10744200" y="518464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artefactos por equipo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743200" cy="4572000"/>
          </a:xfrm>
          <a:prstGeom prst="roundRect">
            <a:avLst>
              <a:gd name="adj" fmla="val 2333"/>
            </a:avLst>
          </a:prstGeom>
          <a:solidFill>
            <a:srgbClr val="F1E9D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202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Especificación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468880"/>
            <a:ext cx="23408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constitution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catalog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glossary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737360"/>
            <a:ext cx="2743200" cy="4572000"/>
          </a:xfrm>
          <a:prstGeom prst="roundRect">
            <a:avLst>
              <a:gd name="adj" fmla="val 2333"/>
            </a:avLst>
          </a:prstGeom>
          <a:solidFill>
            <a:srgbClr val="FAF7F1"/>
          </a:solidFill>
          <a:ln/>
        </p:spPr>
      </p:sp>
      <p:sp>
        <p:nvSpPr>
          <p:cNvPr id="8" name="Text 6"/>
          <p:cNvSpPr/>
          <p:nvPr/>
        </p:nvSpPr>
        <p:spPr>
          <a:xfrm>
            <a:off x="3630168" y="19202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y contratos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30168" y="2468880"/>
            <a:ext cx="23408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&amp; ADR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diagrams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/ State machine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· JSON Schema · AsyncAPI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2743200" cy="4572000"/>
          </a:xfrm>
          <a:prstGeom prst="roundRect">
            <a:avLst>
              <a:gd name="adj" fmla="val 2333"/>
            </a:avLst>
          </a:prstGeom>
          <a:solidFill>
            <a:srgbClr val="F1E9DC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202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2468880"/>
            <a:ext cx="23408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scenarios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&amp; contract tests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matrix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report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89720" y="1737360"/>
            <a:ext cx="2743200" cy="4572000"/>
          </a:xfrm>
          <a:prstGeom prst="roundRect">
            <a:avLst>
              <a:gd name="adj" fmla="val 2333"/>
            </a:avLst>
          </a:prstGeom>
          <a:solidFill>
            <a:srgbClr val="FAF7F1"/>
          </a:solidFill>
          <a:ln/>
        </p:spPr>
      </p:sp>
      <p:sp>
        <p:nvSpPr>
          <p:cNvPr id="14" name="Text 12"/>
          <p:cNvSpPr/>
          <p:nvPr/>
        </p:nvSpPr>
        <p:spPr>
          <a:xfrm>
            <a:off x="9390888" y="19202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 y entrega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90888" y="2468880"/>
            <a:ext cx="23408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workflow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observability requirements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 &amp; impact analysis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log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implementation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640080"/>
            <a:ext cx="1097280" cy="12161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286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A93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↔ Design ↔ Contracts ↔ Tasks ↔ Code ↔ Tests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965960" y="3017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8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referencia reutilizable para implementar Spec-Driven Development en proyectos reales, equipos empresariales y flujos de desarrollo asistidos por inteligencia artificial.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937760" y="4434840"/>
            <a:ext cx="2286000" cy="0"/>
          </a:xfrm>
          <a:prstGeom prst="line">
            <a:avLst/>
          </a:prstGeom>
          <a:noFill/>
          <a:ln w="12700">
            <a:solidFill>
              <a:srgbClr val="BA93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Académica  ·  Universidad Panamericana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2026-07-21T04:01:29Z</dcterms:created>
  <dcterms:modified xsi:type="dcterms:W3CDTF">2026-07-21T04:01:29Z</dcterms:modified>
</cp:coreProperties>
</file>